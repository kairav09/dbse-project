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66899-C096-4686-B300-E1D6AA42CDE9}" v="18" dt="2026-07-02T16:12:21.471"/>
    <p1510:client id="{E9B0078F-71CD-40F1-B7A0-85484F5377DB}" v="8" dt="2026-07-03T06:55:4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70" autoAdjust="0"/>
    <p:restoredTop sz="95033" autoAdjust="0"/>
  </p:normalViewPr>
  <p:slideViewPr>
    <p:cSldViewPr snapToGrid="0" snapToObjects="1">
      <p:cViewPr varScale="1">
        <p:scale>
          <a:sx n="78" d="100"/>
          <a:sy n="78" d="100"/>
        </p:scale>
        <p:origin x="264" y="72"/>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8/15/2026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15-08-2026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15-08-2026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15-08-2026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15-08-2026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15-08-2026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15-08-2026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15-08-2026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15-08-2026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15-08-2026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15-08-2026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15-08-2026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15-08-2026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15-08-2026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15-08-2026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15-08-2026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15-08-2026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15-08-2026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15-08-2026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300399"/>
            <a:ext cx="10392383" cy="776839"/>
          </a:xfrm>
        </p:spPr>
        <p:txBody>
          <a:bodyPr wrap="square">
            <a:noAutofit/>
          </a:bodyPr>
          <a:lstStyle/>
          <a:p>
            <a:pPr algn="ctr">
              <a:lnSpc>
                <a:spcPct val="100000"/>
              </a:lnSpc>
            </a:pPr>
            <a:r>
              <a:rPr sz="2700" b="1">
                <a:latin typeface="Aptos"/>
              </a:rPr>
              <a:t>1st REVIEW</a:t>
            </a:r>
            <a:br/>
            <a:br/>
            <a:r>
              <a:rPr sz="2700" b="1">
                <a:latin typeface="Aptos"/>
              </a:rPr>
              <a:t>BLOOD MANAGEMENT SYSTEM</a:t>
            </a:r>
            <a:endParaRPr lang="en-US" sz="2400" b="1" dirty="0">
              <a:solidFill>
                <a:srgbClr val="011893"/>
              </a:solidFill>
              <a:latin typeface="+mn-lt"/>
              <a:cs typeface="Arial" panose="020B0604020202020204" pitchFamily="34" charset="0"/>
            </a:endParaRPr>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wrap="square"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sz="1600" b="0" dirty="0">
                <a:latin typeface="Aptos"/>
              </a:rPr>
              <a:t>Under the Guidance of</a:t>
            </a:r>
            <a:br>
              <a:rPr dirty="0"/>
            </a:br>
            <a:r>
              <a:rPr sz="1600" b="0" dirty="0">
                <a:latin typeface="Aptos"/>
              </a:rPr>
              <a:t>Dr. </a:t>
            </a:r>
            <a:r>
              <a:rPr lang="en-IN" sz="1600" dirty="0" err="1">
                <a:latin typeface="Aptos"/>
              </a:rPr>
              <a:t>Spandana.S</a:t>
            </a:r>
            <a:endParaRPr lang="en-IN" sz="1600" dirty="0">
              <a:latin typeface="Aptos"/>
            </a:endParaRPr>
          </a:p>
          <a:p>
            <a:pPr marL="0" indent="0" algn="ctr">
              <a:buNone/>
            </a:pPr>
            <a:r>
              <a:rPr sz="1600" b="0" dirty="0">
                <a:latin typeface="Aptos"/>
              </a:rPr>
              <a:t>Assistant Professor</a:t>
            </a:r>
            <a:br>
              <a:rPr dirty="0"/>
            </a:br>
            <a:r>
              <a:rPr sz="1600" b="0" dirty="0">
                <a:latin typeface="Aptos"/>
              </a:rPr>
              <a:t>Department of Computer Science and Engineering</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2869176017"/>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latin typeface="Aptos"/>
                        </a:rPr>
                        <a:t>PAKALAPATI HARINI</a:t>
                      </a:r>
                    </a:p>
                  </a:txBody>
                  <a:tcPr/>
                </a:tc>
                <a:tc>
                  <a:txBody>
                    <a:bodyPr/>
                    <a:lstStyle/>
                    <a:p>
                      <a:r>
                        <a:rPr lang="en-US" dirty="0"/>
                        <a:t>2520030177</a:t>
                      </a:r>
                    </a:p>
                  </a:txBody>
                  <a:tcPr/>
                </a:tc>
                <a:extLst>
                  <a:ext uri="{0D108BD9-81ED-4DB2-BD59-A6C34878D82A}">
                    <a16:rowId xmlns:a16="http://schemas.microsoft.com/office/drawing/2014/main" val="25351817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latin typeface="Aptos"/>
                        </a:rPr>
                        <a:t>PAKKIRU SAI HARSHITH REDDY</a:t>
                      </a:r>
                    </a:p>
                  </a:txBody>
                  <a:tcPr/>
                </a:tc>
                <a:tc>
                  <a:txBody>
                    <a:bodyPr/>
                    <a:lstStyle/>
                    <a:p>
                      <a:r>
                        <a:rPr lang="en-US" dirty="0"/>
                        <a:t>2520030375</a:t>
                      </a:r>
                    </a:p>
                  </a:txBody>
                  <a:tcPr/>
                </a:tc>
                <a:extLst>
                  <a:ext uri="{0D108BD9-81ED-4DB2-BD59-A6C34878D82A}">
                    <a16:rowId xmlns:a16="http://schemas.microsoft.com/office/drawing/2014/main" val="241343805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latin typeface="Aptos"/>
                        </a:rPr>
                        <a:t>KAIRAV VASHI</a:t>
                      </a:r>
                    </a:p>
                  </a:txBody>
                  <a:tcPr/>
                </a:tc>
                <a:tc>
                  <a:txBody>
                    <a:bodyPr/>
                    <a:lstStyle/>
                    <a:p>
                      <a:r>
                        <a:rPr lang="en-US" dirty="0"/>
                        <a:t>2520030582</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wrap="square">
            <a:normAutofit/>
          </a:bodyPr>
          <a:lstStyle/>
          <a:p>
            <a:pPr algn="ctr"/>
            <a:r>
              <a:rPr sz="2600" b="1">
                <a:latin typeface="Aptos"/>
              </a:rPr>
              <a:t>TEAM DETAILS</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sp>
        <p:nvSpPr>
          <p:cNvPr id="7" name="TextBox 6"/>
          <p:cNvSpPr txBox="1"/>
          <p:nvPr/>
        </p:nvSpPr>
        <p:spPr>
          <a:xfrm>
            <a:off x="4536363" y="1325880"/>
            <a:ext cx="3088794" cy="353943"/>
          </a:xfrm>
          <a:prstGeom prst="rect">
            <a:avLst/>
          </a:prstGeom>
          <a:noFill/>
        </p:spPr>
        <p:txBody>
          <a:bodyPr wrap="none">
            <a:spAutoFit/>
          </a:bodyPr>
          <a:lstStyle/>
          <a:p>
            <a:pPr algn="ctr"/>
            <a:r>
              <a:rPr sz="1700" b="1" dirty="0">
                <a:latin typeface="Aptos"/>
              </a:rPr>
              <a:t>GROUP NUMBER: __</a:t>
            </a:r>
            <a:r>
              <a:rPr lang="en-IN" sz="1700" b="1" dirty="0">
                <a:latin typeface="Aptos"/>
              </a:rPr>
              <a:t>6</a:t>
            </a:r>
            <a:r>
              <a:rPr sz="1700" b="1" dirty="0">
                <a:latin typeface="Aptos"/>
              </a:rPr>
              <a:t>________</a:t>
            </a:r>
          </a:p>
        </p:txBody>
      </p:sp>
      <p:graphicFrame>
        <p:nvGraphicFramePr>
          <p:cNvPr id="8" name="Table 7"/>
          <p:cNvGraphicFramePr>
            <a:graphicFrameLocks noGrp="1"/>
          </p:cNvGraphicFramePr>
          <p:nvPr/>
        </p:nvGraphicFramePr>
        <p:xfrm>
          <a:off x="914400" y="1874519"/>
          <a:ext cx="10332719" cy="2606040"/>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0000"/>
                    </a:ext>
                  </a:extLst>
                </a:gridCol>
                <a:gridCol w="3749039">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3657600">
                  <a:extLst>
                    <a:ext uri="{9D8B030D-6E8A-4147-A177-3AD203B41FA5}">
                      <a16:colId xmlns:a16="http://schemas.microsoft.com/office/drawing/2014/main" val="20003"/>
                    </a:ext>
                  </a:extLst>
                </a:gridCol>
              </a:tblGrid>
              <a:tr h="651510">
                <a:tc>
                  <a:txBody>
                    <a:bodyPr/>
                    <a:lstStyle/>
                    <a:p>
                      <a:pPr algn="ctr"/>
                      <a:r>
                        <a:rPr sz="1500" b="1">
                          <a:latin typeface="Aptos"/>
                        </a:rPr>
                        <a:t>S.No.</a:t>
                      </a:r>
                    </a:p>
                  </a:txBody>
                  <a:tcPr anchor="ctr">
                    <a:lnL w="12700"/>
                    <a:lnR w="12700"/>
                    <a:lnT w="12700"/>
                    <a:lnB w="12700"/>
                  </a:tcPr>
                </a:tc>
                <a:tc>
                  <a:txBody>
                    <a:bodyPr/>
                    <a:lstStyle/>
                    <a:p>
                      <a:pPr algn="ctr"/>
                      <a:r>
                        <a:rPr sz="1500" b="1">
                          <a:latin typeface="Aptos"/>
                        </a:rPr>
                        <a:t>Name of Candidate</a:t>
                      </a:r>
                    </a:p>
                  </a:txBody>
                  <a:tcPr anchor="ctr">
                    <a:lnL w="12700"/>
                    <a:lnR w="12700"/>
                    <a:lnT w="12700"/>
                    <a:lnB w="12700"/>
                  </a:tcPr>
                </a:tc>
                <a:tc>
                  <a:txBody>
                    <a:bodyPr/>
                    <a:lstStyle/>
                    <a:p>
                      <a:pPr algn="ctr"/>
                      <a:r>
                        <a:rPr sz="1500" b="1">
                          <a:latin typeface="Aptos"/>
                        </a:rPr>
                        <a:t>Roll Number</a:t>
                      </a:r>
                    </a:p>
                  </a:txBody>
                  <a:tcPr anchor="ctr">
                    <a:lnL w="12700"/>
                    <a:lnR w="12700"/>
                    <a:lnT w="12700"/>
                    <a:lnB w="12700"/>
                  </a:tcPr>
                </a:tc>
                <a:tc>
                  <a:txBody>
                    <a:bodyPr/>
                    <a:lstStyle/>
                    <a:p>
                      <a:pPr algn="ctr"/>
                      <a:r>
                        <a:rPr sz="1500" b="1">
                          <a:latin typeface="Aptos"/>
                        </a:rPr>
                        <a:t>Role</a:t>
                      </a:r>
                    </a:p>
                  </a:txBody>
                  <a:tcPr anchor="ctr">
                    <a:lnL w="12700"/>
                    <a:lnR w="12700"/>
                    <a:lnT w="12700"/>
                    <a:lnB w="12700"/>
                  </a:tcPr>
                </a:tc>
                <a:extLst>
                  <a:ext uri="{0D108BD9-81ED-4DB2-BD59-A6C34878D82A}">
                    <a16:rowId xmlns:a16="http://schemas.microsoft.com/office/drawing/2014/main" val="10000"/>
                  </a:ext>
                </a:extLst>
              </a:tr>
              <a:tr h="651510">
                <a:tc>
                  <a:txBody>
                    <a:bodyPr/>
                    <a:lstStyle/>
                    <a:p>
                      <a:pPr algn="ctr"/>
                      <a:r>
                        <a:rPr sz="1400">
                          <a:latin typeface="Aptos"/>
                        </a:rPr>
                        <a:t>1</a:t>
                      </a:r>
                    </a:p>
                  </a:txBody>
                  <a:tcPr anchor="ctr">
                    <a:lnL w="12700"/>
                    <a:lnR w="12700"/>
                    <a:lnT w="12700"/>
                    <a:lnB w="12700"/>
                  </a:tcPr>
                </a:tc>
                <a:tc>
                  <a:txBody>
                    <a:bodyPr/>
                    <a:lstStyle/>
                    <a:p>
                      <a:pPr algn="l"/>
                      <a:r>
                        <a:rPr sz="1400" dirty="0">
                          <a:latin typeface="Aptos"/>
                        </a:rPr>
                        <a:t>PAKALAPATI HARINI</a:t>
                      </a:r>
                    </a:p>
                  </a:txBody>
                  <a:tcPr anchor="ctr">
                    <a:lnL w="12700"/>
                    <a:lnR w="12700"/>
                    <a:lnT w="12700"/>
                    <a:lnB w="12700"/>
                  </a:tcPr>
                </a:tc>
                <a:tc>
                  <a:txBody>
                    <a:bodyPr/>
                    <a:lstStyle/>
                    <a:p>
                      <a:pPr algn="ctr"/>
                      <a:r>
                        <a:rPr sz="1400">
                          <a:latin typeface="Aptos"/>
                        </a:rPr>
                        <a:t>2520030177</a:t>
                      </a:r>
                    </a:p>
                  </a:txBody>
                  <a:tcPr anchor="ctr">
                    <a:lnL w="12700"/>
                    <a:lnR w="12700"/>
                    <a:lnT w="12700"/>
                    <a:lnB w="12700"/>
                  </a:tcPr>
                </a:tc>
                <a:tc>
                  <a:txBody>
                    <a:bodyPr/>
                    <a:lstStyle/>
                    <a:p>
                      <a:pPr algn="ctr"/>
                      <a:r>
                        <a:rPr sz="1400">
                          <a:latin typeface="Aptos"/>
                        </a:rPr>
                        <a:t>Frontend Development</a:t>
                      </a:r>
                    </a:p>
                  </a:txBody>
                  <a:tcPr anchor="ctr">
                    <a:lnL w="12700"/>
                    <a:lnR w="12700"/>
                    <a:lnT w="12700"/>
                    <a:lnB w="12700"/>
                  </a:tcPr>
                </a:tc>
                <a:extLst>
                  <a:ext uri="{0D108BD9-81ED-4DB2-BD59-A6C34878D82A}">
                    <a16:rowId xmlns:a16="http://schemas.microsoft.com/office/drawing/2014/main" val="10001"/>
                  </a:ext>
                </a:extLst>
              </a:tr>
              <a:tr h="651510">
                <a:tc>
                  <a:txBody>
                    <a:bodyPr/>
                    <a:lstStyle/>
                    <a:p>
                      <a:pPr algn="ctr"/>
                      <a:r>
                        <a:rPr sz="1400">
                          <a:latin typeface="Aptos"/>
                        </a:rPr>
                        <a:t>2</a:t>
                      </a:r>
                    </a:p>
                  </a:txBody>
                  <a:tcPr anchor="ctr">
                    <a:lnL w="12700"/>
                    <a:lnR w="12700"/>
                    <a:lnT w="12700"/>
                    <a:lnB w="12700"/>
                  </a:tcPr>
                </a:tc>
                <a:tc>
                  <a:txBody>
                    <a:bodyPr/>
                    <a:lstStyle/>
                    <a:p>
                      <a:pPr algn="l"/>
                      <a:r>
                        <a:rPr sz="1400" dirty="0">
                          <a:latin typeface="Aptos"/>
                        </a:rPr>
                        <a:t>PAKKIRU SAI HARSHITH REDDY</a:t>
                      </a:r>
                    </a:p>
                  </a:txBody>
                  <a:tcPr anchor="ctr">
                    <a:lnL w="12700"/>
                    <a:lnR w="12700"/>
                    <a:lnT w="12700"/>
                    <a:lnB w="12700"/>
                  </a:tcPr>
                </a:tc>
                <a:tc>
                  <a:txBody>
                    <a:bodyPr/>
                    <a:lstStyle/>
                    <a:p>
                      <a:pPr algn="ctr"/>
                      <a:r>
                        <a:rPr sz="1400">
                          <a:latin typeface="Aptos"/>
                        </a:rPr>
                        <a:t>2520030375</a:t>
                      </a:r>
                    </a:p>
                  </a:txBody>
                  <a:tcPr anchor="ctr">
                    <a:lnL w="12700"/>
                    <a:lnR w="12700"/>
                    <a:lnT w="12700"/>
                    <a:lnB w="12700"/>
                  </a:tcPr>
                </a:tc>
                <a:tc>
                  <a:txBody>
                    <a:bodyPr/>
                    <a:lstStyle/>
                    <a:p>
                      <a:pPr algn="ctr"/>
                      <a:r>
                        <a:rPr sz="1400">
                          <a:latin typeface="Aptos"/>
                        </a:rPr>
                        <a:t>Backend Development</a:t>
                      </a:r>
                    </a:p>
                  </a:txBody>
                  <a:tcPr anchor="ctr">
                    <a:lnL w="12700"/>
                    <a:lnR w="12700"/>
                    <a:lnT w="12700"/>
                    <a:lnB w="12700"/>
                  </a:tcPr>
                </a:tc>
                <a:extLst>
                  <a:ext uri="{0D108BD9-81ED-4DB2-BD59-A6C34878D82A}">
                    <a16:rowId xmlns:a16="http://schemas.microsoft.com/office/drawing/2014/main" val="10002"/>
                  </a:ext>
                </a:extLst>
              </a:tr>
              <a:tr h="651510">
                <a:tc>
                  <a:txBody>
                    <a:bodyPr/>
                    <a:lstStyle/>
                    <a:p>
                      <a:pPr algn="ctr"/>
                      <a:r>
                        <a:rPr sz="1400">
                          <a:latin typeface="Aptos"/>
                        </a:rPr>
                        <a:t>3</a:t>
                      </a:r>
                    </a:p>
                  </a:txBody>
                  <a:tcPr anchor="ctr">
                    <a:lnL w="12700"/>
                    <a:lnR w="12700"/>
                    <a:lnT w="12700"/>
                    <a:lnB w="12700"/>
                  </a:tcPr>
                </a:tc>
                <a:tc>
                  <a:txBody>
                    <a:bodyPr/>
                    <a:lstStyle/>
                    <a:p>
                      <a:pPr algn="l"/>
                      <a:r>
                        <a:rPr sz="1400" dirty="0">
                          <a:latin typeface="Aptos"/>
                        </a:rPr>
                        <a:t>KAIRAV VASHI</a:t>
                      </a:r>
                    </a:p>
                  </a:txBody>
                  <a:tcPr anchor="ctr">
                    <a:lnL w="12700"/>
                    <a:lnR w="12700"/>
                    <a:lnT w="12700"/>
                    <a:lnB w="12700"/>
                  </a:tcPr>
                </a:tc>
                <a:tc>
                  <a:txBody>
                    <a:bodyPr/>
                    <a:lstStyle/>
                    <a:p>
                      <a:pPr algn="ctr"/>
                      <a:r>
                        <a:rPr sz="1400">
                          <a:latin typeface="Aptos"/>
                        </a:rPr>
                        <a:t>2520030582</a:t>
                      </a:r>
                    </a:p>
                  </a:txBody>
                  <a:tcPr anchor="ctr">
                    <a:lnL w="12700"/>
                    <a:lnR w="12700"/>
                    <a:lnT w="12700"/>
                    <a:lnB w="12700"/>
                  </a:tcPr>
                </a:tc>
                <a:tc>
                  <a:txBody>
                    <a:bodyPr/>
                    <a:lstStyle/>
                    <a:p>
                      <a:pPr algn="ctr"/>
                      <a:r>
                        <a:rPr sz="1400" dirty="0">
                          <a:latin typeface="Aptos"/>
                        </a:rPr>
                        <a:t>Database &amp; Integration</a:t>
                      </a:r>
                    </a:p>
                  </a:txBody>
                  <a:tcPr anchor="ctr">
                    <a:lnL w="12700"/>
                    <a:lnR w="12700"/>
                    <a:lnT w="12700"/>
                    <a:lnB w="12700"/>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wrap="square">
            <a:normAutofit/>
          </a:bodyPr>
          <a:lstStyle/>
          <a:p>
            <a:pPr algn="ctr"/>
            <a:r>
              <a:rPr sz="2600" b="1">
                <a:latin typeface="Aptos"/>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7" name="TextBox 6"/>
          <p:cNvSpPr txBox="1"/>
          <p:nvPr/>
        </p:nvSpPr>
        <p:spPr>
          <a:xfrm>
            <a:off x="822960" y="1325880"/>
            <a:ext cx="10378440" cy="5212080"/>
          </a:xfrm>
          <a:prstGeom prst="rect">
            <a:avLst/>
          </a:prstGeom>
          <a:noFill/>
        </p:spPr>
        <p:txBody>
          <a:bodyPr wrap="square">
            <a:spAutoFit/>
          </a:bodyPr>
          <a:lstStyle/>
          <a:p>
            <a:pPr algn="just">
              <a:spcAft>
                <a:spcPts val="1200"/>
              </a:spcAft>
              <a:defRPr sz="1500">
                <a:latin typeface="Aptos"/>
              </a:defRPr>
            </a:pPr>
            <a:r>
              <a:t>The Blood Management System is a web-based application proposed to manage blood donation, blood storage, blood requests, and distribution through a centralized platform. The system is designed to connect donors, hospitals, blood banks, and administrators so that blood-related information can be maintained in an organized manner.</a:t>
            </a:r>
          </a:p>
          <a:p>
            <a:pPr algn="just">
              <a:spcAft>
                <a:spcPts val="1200"/>
              </a:spcAft>
              <a:defRPr sz="1500">
                <a:latin typeface="Aptos"/>
              </a:defRPr>
            </a:pPr>
            <a:r>
              <a:t>In the existing approach, donor details, blood stock, hospital requirements, and request information may be maintained through separate or manual records. This can make it difficult to obtain updated information and coordinate blood requirements efficiently, especially when a particular blood group is needed urgently.</a:t>
            </a:r>
          </a:p>
          <a:p>
            <a:pPr algn="just">
              <a:spcAft>
                <a:spcPts val="1200"/>
              </a:spcAft>
              <a:defRPr sz="1500">
                <a:latin typeface="Aptos"/>
              </a:defRPr>
            </a:pPr>
            <a:r>
              <a:t>The proposed system provides role-based facilities for donors, hospitals, blood banks, and administrators. It maintains donor information, blood-group-wise inventory, requests, issue details, and expiry information in a structured database. The main aim is to reduce manual effort, improve data accuracy, support systematic inventory management, and make blood-request processing more efficient.</a:t>
            </a:r>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wrap="square">
            <a:normAutofit/>
          </a:bodyPr>
          <a:lstStyle/>
          <a:p>
            <a:pPr algn="ctr"/>
            <a:r>
              <a:rPr sz="2600" b="1">
                <a:latin typeface="Aptos"/>
              </a:rPr>
              <a:t>INTRODUCTION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7" name="TextBox 6"/>
          <p:cNvSpPr txBox="1"/>
          <p:nvPr/>
        </p:nvSpPr>
        <p:spPr>
          <a:xfrm>
            <a:off x="840658" y="1185904"/>
            <a:ext cx="10378440" cy="5212080"/>
          </a:xfrm>
          <a:prstGeom prst="rect">
            <a:avLst/>
          </a:prstGeom>
          <a:noFill/>
        </p:spPr>
        <p:txBody>
          <a:bodyPr wrap="square">
            <a:spAutoFit/>
          </a:bodyPr>
          <a:lstStyle/>
          <a:p>
            <a:pPr algn="just">
              <a:spcAft>
                <a:spcPts val="1200"/>
              </a:spcAft>
              <a:defRPr sz="1600">
                <a:latin typeface="Aptos"/>
              </a:defRPr>
            </a:pPr>
            <a:r>
              <a:t>Blood is an essential healthcare resource required during emergencies, surgeries, accidents, medical treatments, and other critical situations. Effective blood management requires accurate information about donors, blood groups, available units, requests, and stock movement.</a:t>
            </a:r>
          </a:p>
          <a:p>
            <a:pPr algn="just">
              <a:spcAft>
                <a:spcPts val="1200"/>
              </a:spcAft>
              <a:defRPr sz="1600">
                <a:latin typeface="Aptos"/>
              </a:defRPr>
            </a:pPr>
            <a:r>
              <a:t>In a manual or disconnected system, obtaining the latest blood availability information can require additional communication between hospitals and blood banks. Maintaining records manually can also make it difficult to track stock, expiry dates, donor information, and previous requests in an organized manner.</a:t>
            </a:r>
          </a:p>
          <a:p>
            <a:pPr algn="just">
              <a:spcAft>
                <a:spcPts val="1200"/>
              </a:spcAft>
              <a:defRPr sz="1600">
                <a:latin typeface="Aptos"/>
              </a:defRPr>
            </a:pPr>
            <a:r>
              <a:t>The proposed Blood Management System addresses these challenges by providing a centralized web-based platform. It brings the major activities of blood management into one system and provides different facilities according to the role of the user.</a:t>
            </a:r>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wrap="square">
            <a:normAutofit/>
          </a:bodyPr>
          <a:lstStyle/>
          <a:p>
            <a:pPr algn="ctr"/>
            <a:r>
              <a:rPr sz="2600" b="1">
                <a:latin typeface="Aptos"/>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7" name="TextBox 6"/>
          <p:cNvSpPr txBox="1"/>
          <p:nvPr/>
        </p:nvSpPr>
        <p:spPr>
          <a:xfrm>
            <a:off x="538316" y="1325879"/>
            <a:ext cx="10515600" cy="2369880"/>
          </a:xfrm>
          <a:prstGeom prst="rect">
            <a:avLst/>
          </a:prstGeom>
          <a:noFill/>
        </p:spPr>
        <p:txBody>
          <a:bodyPr wrap="square">
            <a:spAutoFit/>
          </a:bodyPr>
          <a:lstStyle/>
          <a:p>
            <a:pPr algn="just">
              <a:spcAft>
                <a:spcPts val="1200"/>
              </a:spcAft>
              <a:defRPr sz="1600">
                <a:latin typeface="Aptos"/>
              </a:defRPr>
            </a:pPr>
            <a:r>
              <a:t>The existing blood-management process can involve manual registers, spreadsheets, telephone communication, and separate records maintained by different organizations. Donor information and blood-stock information may not always be stored in a single centralized system.</a:t>
            </a:r>
          </a:p>
          <a:p>
            <a:pPr algn="just">
              <a:spcAft>
                <a:spcPts val="1200"/>
              </a:spcAft>
              <a:defRPr sz="1600">
                <a:latin typeface="Aptos"/>
              </a:defRPr>
            </a:pPr>
            <a:r>
              <a:t>When a hospital requires a particular blood group, staff may have to contact blood banks individually to check availability. Updating stock manually after blood collection or issue can also result in outdated records. Tracking expiry dates and preparing consolidated reports may require additional manual effort.</a:t>
            </a:r>
          </a:p>
          <a:p>
            <a:pPr algn="just">
              <a:spcAft>
                <a:spcPts val="1200"/>
              </a:spcAft>
              <a:defRPr sz="1600">
                <a:latin typeface="Aptos"/>
              </a:defRPr>
            </a:pPr>
            <a:r>
              <a:t>Because the information is distributed across different records and communication channels, the existing approach can make coordination slower and increase the possibility of data-entry or record-management errors.</a:t>
            </a:r>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wrap="square">
            <a:normAutofit/>
          </a:bodyPr>
          <a:lstStyle/>
          <a:p>
            <a:pPr algn="ctr"/>
            <a:r>
              <a:rPr sz="2600" b="1">
                <a:latin typeface="Aptos"/>
              </a:rPr>
              <a:t>PROBLEM STATEMENT</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7" name="TextBox 6"/>
          <p:cNvSpPr txBox="1"/>
          <p:nvPr/>
        </p:nvSpPr>
        <p:spPr>
          <a:xfrm>
            <a:off x="1324405" y="1395254"/>
            <a:ext cx="10378440" cy="5212080"/>
          </a:xfrm>
          <a:prstGeom prst="rect">
            <a:avLst/>
          </a:prstGeom>
          <a:noFill/>
        </p:spPr>
        <p:txBody>
          <a:bodyPr wrap="square">
            <a:spAutoFit/>
          </a:bodyPr>
          <a:lstStyle/>
          <a:p>
            <a:pPr algn="just">
              <a:spcAft>
                <a:spcPts val="1200"/>
              </a:spcAft>
              <a:defRPr sz="1600">
                <a:latin typeface="Aptos"/>
              </a:defRPr>
            </a:pPr>
            <a:r>
              <a:t>The major problem addressed by the project is the absence of a centralized and systematic mechanism for managing blood-related information. Donor details, blood inventory, hospital requirements, and request status may be maintained separately, making it difficult to obtain a complete and updated view of the available resources.</a:t>
            </a:r>
          </a:p>
          <a:p>
            <a:pPr algn="just">
              <a:spcAft>
                <a:spcPts val="1200"/>
              </a:spcAft>
              <a:defRPr sz="1600">
                <a:latin typeface="Aptos"/>
              </a:defRPr>
            </a:pPr>
            <a:r>
              <a:t>During an urgent requirement, hospitals need reliable information about the availability of the required blood group. If this information is not easily accessible, the process of finding and requesting blood can take additional time. Manual inventory management can also make stock and expiry tracking difficult.</a:t>
            </a:r>
          </a:p>
          <a:p>
            <a:pPr algn="just">
              <a:spcAft>
                <a:spcPts val="1200"/>
              </a:spcAft>
              <a:defRPr sz="1600">
                <a:latin typeface="Aptos"/>
              </a:defRPr>
            </a:pPr>
            <a:r>
              <a:t>Therefore, there is a need for a database-driven web application that can organize blood information, simplify request management, and improve coordination between donors, hospitals, blood banks, and administrators.</a:t>
            </a:r>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wrap="square">
            <a:normAutofit/>
          </a:bodyPr>
          <a:lstStyle/>
          <a:p>
            <a:pPr algn="ctr"/>
            <a:r>
              <a:rPr sz="2600" b="1">
                <a:latin typeface="Aptos"/>
              </a:rPr>
              <a:t>SOLUTION / 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7" name="TextBox 6"/>
          <p:cNvSpPr txBox="1"/>
          <p:nvPr/>
        </p:nvSpPr>
        <p:spPr>
          <a:xfrm>
            <a:off x="1011739" y="1645920"/>
            <a:ext cx="10378440" cy="5212080"/>
          </a:xfrm>
          <a:prstGeom prst="rect">
            <a:avLst/>
          </a:prstGeom>
          <a:noFill/>
        </p:spPr>
        <p:txBody>
          <a:bodyPr wrap="square">
            <a:spAutoFit/>
          </a:bodyPr>
          <a:lstStyle/>
          <a:p>
            <a:pPr algn="just">
              <a:spcAft>
                <a:spcPts val="1200"/>
              </a:spcAft>
              <a:defRPr sz="1600">
                <a:latin typeface="Aptos"/>
              </a:defRPr>
            </a:pPr>
            <a:r>
              <a:t>The proposed solution is a centralized, role-based web application for managing blood-related activities. The system stores important information in a common database and provides different interfaces for administrators, donors, hospitals, and blood banks.</a:t>
            </a:r>
          </a:p>
          <a:p>
            <a:pPr algn="just">
              <a:spcAft>
                <a:spcPts val="1200"/>
              </a:spcAft>
              <a:defRPr sz="1600">
                <a:latin typeface="Aptos"/>
              </a:defRPr>
            </a:pPr>
            <a:r>
              <a:t>A donor can register and maintain personal information, while a hospital can submit a requirement for a particular blood group and track the request. A blood bank can maintain blood-group-wise inventory, update stock when units are added or issued, and record expiry information. The administrator can monitor users, requests, inventory, and system activities.</a:t>
            </a:r>
          </a:p>
          <a:p>
            <a:pPr algn="just">
              <a:spcAft>
                <a:spcPts val="1200"/>
              </a:spcAft>
              <a:defRPr sz="1600">
                <a:latin typeface="Aptos"/>
              </a:defRPr>
            </a:pPr>
            <a:r>
              <a:t>The main contribution of the project is the integration of these activities into one platform. This provides a structured method for maintaining records, checking availability, processing requests, and monitoring blood inventory.</a:t>
            </a:r>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wrap="square">
            <a:normAutofit/>
          </a:bodyPr>
          <a:lstStyle/>
          <a:p>
            <a:pPr algn="ctr"/>
            <a:r>
              <a:rPr sz="2600" b="1">
                <a:latin typeface="Aptos"/>
              </a:rPr>
              <a:t>OBJECTIVES</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7" name="TextBox 6"/>
          <p:cNvSpPr txBox="1"/>
          <p:nvPr/>
        </p:nvSpPr>
        <p:spPr>
          <a:xfrm>
            <a:off x="822960" y="1325880"/>
            <a:ext cx="10378440" cy="5212080"/>
          </a:xfrm>
          <a:prstGeom prst="rect">
            <a:avLst/>
          </a:prstGeom>
          <a:noFill/>
        </p:spPr>
        <p:txBody>
          <a:bodyPr wrap="square">
            <a:spAutoFit/>
          </a:bodyPr>
          <a:lstStyle/>
          <a:p>
            <a:pPr algn="just">
              <a:spcAft>
                <a:spcPts val="1200"/>
              </a:spcAft>
              <a:defRPr sz="1600">
                <a:latin typeface="Aptos"/>
              </a:defRPr>
            </a:pPr>
            <a:r>
              <a:rPr dirty="0"/>
              <a:t>The primary objective of the Blood Management System is to develop a centralized web-based platform that can organize and manage information related to blood donors, hospitals, blood banks, blood inventory, and blood requests.</a:t>
            </a:r>
          </a:p>
          <a:p>
            <a:pPr algn="just">
              <a:spcAft>
                <a:spcPts val="1200"/>
              </a:spcAft>
              <a:defRPr sz="1600">
                <a:latin typeface="Aptos"/>
              </a:defRPr>
            </a:pPr>
            <a:r>
              <a:rPr dirty="0"/>
              <a:t>The system aims to maintain accurate and structured records, provide blood-group-wise availability information, simplify the submission and tracking of hospital requests, and support inventory updates and expiry monitoring.</a:t>
            </a:r>
          </a:p>
          <a:p>
            <a:pPr algn="just">
              <a:spcAft>
                <a:spcPts val="1200"/>
              </a:spcAft>
              <a:defRPr sz="1600">
                <a:latin typeface="Aptos"/>
              </a:defRPr>
            </a:pPr>
            <a:r>
              <a:rPr dirty="0"/>
              <a:t>Another important objective is to reduce manual paperwork and repetitive data entry while improving coordination between the different users of the system. The system also aims to provide role-based access and organized reports so that authorized users can monitor and manage blood-related activities efficiently.</a:t>
            </a:r>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wrap="square">
            <a:normAutofit/>
          </a:bodyPr>
          <a:lstStyle/>
          <a:p>
            <a:pPr algn="ctr"/>
            <a:r>
              <a:rPr sz="2600" b="1">
                <a:latin typeface="Aptos"/>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7" name="TextBox 6"/>
          <p:cNvSpPr txBox="1"/>
          <p:nvPr/>
        </p:nvSpPr>
        <p:spPr>
          <a:xfrm>
            <a:off x="645979" y="1326832"/>
            <a:ext cx="10378440" cy="5212080"/>
          </a:xfrm>
          <a:prstGeom prst="rect">
            <a:avLst/>
          </a:prstGeom>
          <a:noFill/>
        </p:spPr>
        <p:txBody>
          <a:bodyPr wrap="square">
            <a:spAutoFit/>
          </a:bodyPr>
          <a:lstStyle/>
          <a:p>
            <a:pPr algn="just">
              <a:spcAft>
                <a:spcPts val="1200"/>
              </a:spcAft>
              <a:defRPr sz="1500">
                <a:latin typeface="Aptos"/>
              </a:defRPr>
            </a:pPr>
            <a:r>
              <a:rPr dirty="0"/>
              <a:t>The Admin Module is responsible for managing users and monitoring the overall system. It can provide access to information about donors, hospitals, blood banks, inventory, requests, and reports according to administrative permissions.</a:t>
            </a:r>
          </a:p>
          <a:p>
            <a:pPr algn="just">
              <a:spcAft>
                <a:spcPts val="1200"/>
              </a:spcAft>
              <a:defRPr sz="1500">
                <a:latin typeface="Aptos"/>
              </a:defRPr>
            </a:pPr>
            <a:r>
              <a:rPr dirty="0"/>
              <a:t>The Donor Module allows donors to register, maintain their profile information, and manage donation-related records. The Hospital Module allows hospitals to maintain their details, submit blood requirements, and track the status of their requests.</a:t>
            </a:r>
          </a:p>
          <a:p>
            <a:pPr algn="just">
              <a:spcAft>
                <a:spcPts val="1200"/>
              </a:spcAft>
              <a:defRPr sz="1500">
                <a:latin typeface="Aptos"/>
              </a:defRPr>
            </a:pPr>
            <a:r>
              <a:rPr dirty="0"/>
              <a:t>The Blood Bank and Inventory Module manages blood-group-wise stock information, stock updates, unit details, and expiry records. The Request Management Module handles the creation, review, processing, and tracking of blood requests.</a:t>
            </a:r>
          </a:p>
          <a:p>
            <a:pPr algn="just">
              <a:spcAft>
                <a:spcPts val="1200"/>
              </a:spcAft>
              <a:defRPr sz="1500">
                <a:latin typeface="Aptos"/>
              </a:defRPr>
            </a:pPr>
            <a:r>
              <a:rPr dirty="0"/>
              <a:t>The Notification and Report Module can provide important status information such as request updates and low-stock conditions and can support the generation of organized reports for administrative monitoring.</a:t>
            </a:r>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wrap="square">
            <a:normAutofit/>
          </a:bodyPr>
          <a:lstStyle/>
          <a:p>
            <a:pPr algn="ctr"/>
            <a:r>
              <a:rPr sz="2600" b="1">
                <a:latin typeface="Aptos"/>
              </a:rPr>
              <a:t>SOFTWARE REQUIREMENTS</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7" name="TextBox 6"/>
          <p:cNvSpPr txBox="1"/>
          <p:nvPr/>
        </p:nvSpPr>
        <p:spPr>
          <a:xfrm>
            <a:off x="822960" y="1325880"/>
            <a:ext cx="10378440" cy="5212080"/>
          </a:xfrm>
          <a:prstGeom prst="rect">
            <a:avLst/>
          </a:prstGeom>
          <a:noFill/>
        </p:spPr>
        <p:txBody>
          <a:bodyPr wrap="square">
            <a:spAutoFit/>
          </a:bodyPr>
          <a:lstStyle/>
          <a:p>
            <a:pPr algn="just">
              <a:spcAft>
                <a:spcPts val="1200"/>
              </a:spcAft>
              <a:defRPr sz="1500">
                <a:latin typeface="Aptos"/>
              </a:defRPr>
            </a:pPr>
            <a:r>
              <a:t>The frontend of the proposed website will be developed using React.js along with HTML5, CSS3, and JavaScript. React.js will be used to create a component-based and interactive user interface, while HTML5, CSS3, and JavaScript will support the structure, presentation, and client-side functionality of the application. Bootstrap can be used to create a responsive and consistent interface.</a:t>
            </a:r>
          </a:p>
          <a:p>
            <a:pPr algn="just">
              <a:spcAft>
                <a:spcPts val="1200"/>
              </a:spcAft>
              <a:defRPr sz="1500">
                <a:latin typeface="Aptos"/>
              </a:defRPr>
            </a:pPr>
            <a:r>
              <a:t>The backend will use Node.js and Express.js. Node.js will provide the server-side runtime environment, while Express.js will be used to develop the backend services and REST APIs that connect the frontend with the database.</a:t>
            </a:r>
          </a:p>
          <a:p>
            <a:pPr algn="just">
              <a:spcAft>
                <a:spcPts val="1200"/>
              </a:spcAft>
              <a:defRPr sz="1500">
                <a:latin typeface="Aptos"/>
              </a:defRPr>
            </a:pPr>
            <a:r>
              <a:t>MySQL will be used as the database management system to store user details, donor information, hospital information, blood inventory, requests, and related records. Visual Studio Code will be used as the development environment, while Git and GitHub will be used for version control and project management.</a:t>
            </a:r>
          </a:p>
        </p:txBody>
      </p:sp>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6564573" cy="805366"/>
          </a:xfrm>
        </p:spPr>
        <p:txBody>
          <a:bodyPr wrap="square" anchor="ctr">
            <a:noAutofit/>
          </a:bodyPr>
          <a:lstStyle/>
          <a:p>
            <a:r>
              <a:rPr sz="2600" b="1">
                <a:latin typeface="Aptos"/>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14" name="TextBox 13"/>
          <p:cNvSpPr txBox="1"/>
          <p:nvPr/>
        </p:nvSpPr>
        <p:spPr>
          <a:xfrm>
            <a:off x="822960" y="1325880"/>
            <a:ext cx="10378440" cy="5212080"/>
          </a:xfrm>
          <a:prstGeom prst="rect">
            <a:avLst/>
          </a:prstGeom>
          <a:noFill/>
        </p:spPr>
        <p:txBody>
          <a:bodyPr wrap="square">
            <a:spAutoFit/>
          </a:bodyPr>
          <a:lstStyle/>
          <a:p>
            <a:pPr algn="just">
              <a:spcAft>
                <a:spcPts val="1200"/>
              </a:spcAft>
              <a:defRPr sz="1500">
                <a:latin typeface="Aptos"/>
              </a:defRPr>
            </a:pPr>
            <a:r>
              <a:t>The Blood Management System provides a centralized approach to managing donors, hospitals, blood banks, inventory, and blood requests. By bringing these activities into one database-driven web application, the system can reduce manual effort, improve the organization of records, and make request and inventory tracking more systematic.</a:t>
            </a:r>
          </a:p>
          <a:p>
            <a:pPr algn="just">
              <a:spcAft>
                <a:spcPts val="1200"/>
              </a:spcAft>
              <a:defRPr sz="1500">
                <a:latin typeface="Aptos"/>
              </a:defRPr>
            </a:pPr>
            <a:r>
              <a:t>The proposed system can provide a foundation for faster coordination and better information management. It can also support administrators in monitoring blood stock and requests through structured records and reports.</a:t>
            </a:r>
          </a:p>
          <a:p>
            <a:pPr algn="just">
              <a:spcAft>
                <a:spcPts val="1200"/>
              </a:spcAft>
              <a:defRPr sz="1500">
                <a:latin typeface="Aptos"/>
              </a:defRPr>
            </a:pPr>
            <a:r>
              <a:t>In the future, the system can be extended with a mobile application, real-time location-based blood-bank search, SMS and email notifications, emergency donor matching, online donation appointment scheduling, analytics for blood-demand trends, and integration with authorized healthcare or blood-bank networks.</a:t>
            </a:r>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wrap="square">
            <a:normAutofit/>
          </a:bodyPr>
          <a:lstStyle/>
          <a:p>
            <a:pPr marL="0" indent="0" algn="ctr">
              <a:buNone/>
            </a:pPr>
            <a:br/>
            <a:br/>
            <a:r>
              <a:rPr sz="3000" b="1">
                <a:latin typeface="Aptos"/>
              </a:rPr>
              <a:t>THANK YOU</a:t>
            </a:r>
            <a:br/>
            <a:br/>
            <a:r>
              <a:rPr sz="3000" b="1">
                <a:latin typeface="Aptos"/>
              </a:rPr>
              <a:t>BLOOD MANAGEMENT SYSTEM</a:t>
            </a:r>
            <a:endParaRPr lang="en-IN" dirty="0"/>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8240</TotalTime>
  <Words>1392</Words>
  <Application>Microsoft Office PowerPoint</Application>
  <PresentationFormat>Widescreen</PresentationFormat>
  <Paragraphs>100</Paragraphs>
  <Slides>12</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Aptos</vt:lpstr>
      <vt:lpstr>Arial</vt:lpstr>
      <vt:lpstr>Calibri</vt:lpstr>
      <vt:lpstr>Calibri Light</vt:lpstr>
      <vt:lpstr>Office Theme</vt:lpstr>
      <vt:lpstr>Custom Design</vt:lpstr>
      <vt:lpstr>1st REVIEW  BLOOD MANAGEMENT SYSTEM</vt:lpstr>
      <vt:lpstr>TEAM DETAILS</vt:lpstr>
      <vt:lpstr>ABSTRACT</vt:lpstr>
      <vt:lpstr>INTRODUCTION</vt:lpstr>
      <vt:lpstr>EXISTING SYSTEM</vt:lpstr>
      <vt:lpstr>PROBLEM STATEMENT</vt:lpstr>
      <vt:lpstr>SOLUTION / CONTRIBUTION</vt:lpstr>
      <vt:lpstr>OBJECTIVES</vt:lpstr>
      <vt:lpstr>MODULES</vt:lpstr>
      <vt:lpstr>SOFTWARE REQUIREMENTS</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harinip2007@outlook.com</cp:lastModifiedBy>
  <cp:revision>94</cp:revision>
  <dcterms:created xsi:type="dcterms:W3CDTF">2022-05-20T10:20:31Z</dcterms:created>
  <dcterms:modified xsi:type="dcterms:W3CDTF">2026-08-15T08:38:07Z</dcterms:modified>
</cp:coreProperties>
</file>